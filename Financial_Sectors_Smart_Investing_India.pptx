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Financial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4AF37"/>
                </a:solidFill>
              </a:defRPr>
            </a:pPr>
            <a:r>
              <a:t>Smart Investing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📊 Financial Sectors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💹 Share Market &amp; Mutual Funds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🏆 Fixed Income &amp; Gold Investment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🏠 Real Estate &amp; Alternative Investments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⚖️ Risk Management &amp; Diversification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🎯 Smart Investing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Investing Matters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Beat inflation and preserve wealth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Create long-term financial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Achieve financial goals faster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Build generational wealth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Leverage compounding power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Secure retirement and education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Financial Sectors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🏦 Banking &amp; Financial Services - Largest sector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📈 Capital Markets - Equities, Bonds, Derivatives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💰 Insurance - Life, Health, General Insurance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🏠 Real Estate - Residential, Commercial, Industrial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🪙 Precious Metals - Gold, Silver, Platinum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💼 Alternative Investments - Crypto, P2P lending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Share Market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Direct ownership of company shares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Potential for high returns over long term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Liquidity: Easy to buy and sell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Regulated by SEBI (Securities and Exchange Board of India)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Key indices: NIFTY 50, SENSEX, Bank Nifty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Average historical return: 12-15% CAGR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Share Market: Pros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9E59"/>
                </a:solidFill>
              </a:defRPr>
            </a:pPr>
            <a:r>
              <a:t>✓ Pros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High growth potential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Liquidity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Transparency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Dividend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✗ Risks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Market volatility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Requires knowledge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Emotional trading</a:t>
            </a:r>
          </a:p>
          <a:p>
            <a:pPr>
              <a:defRPr sz="1600">
                <a:solidFill>
                  <a:srgbClr val="0F2046"/>
                </a:solidFill>
              </a:defRPr>
            </a:pPr>
            <a:r>
              <a:t>• Short-term losses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Mutual Funds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Professional fund management of pooled investor money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Diversification across multiple securities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Lower minimum investment: ₹500-5,000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Three main types: Equity, Debt, Hybrid Funds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Average AUM (Assets Under Management): ₹40+ Lakh Crore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Expected returns: 10-14% CAGR (equity funds)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Mutual Funds: Benefits &amp; Risks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Benefits: Professional management, diversification, SIP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Benefits: Tax efficiency (ELSS funds),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Benefits: Low starting amount, flexible exit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✗ Risks: Market risk (equity funds), management fees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✗ Risks: Short-term performance volatility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💡 Best for: Beginner-friendly, passive wealth building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Gold Investment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Ancient store of value, modern inflation hedge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Forms: Physical gold, gold ETFs, gold funds, sovereign gold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Historical CAGR: 7-9% (long-term average)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Inflation hedge: Strong performer in economic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Low correlation with equities: Excellent diversifier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Recommended allocation: 5-10% of portfolio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Fixed Deposits (FDs)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Guaranteed returns with predetermined interest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Current FD rates: 6-7% p.a. (2024-25 average)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Insurance protection: Up to ₹5 Lakh per bank (DICGC)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Taxable income: TDS applicable on interest above threshold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Optimal tenure: 3-5 years for competitive rates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Ideal for: Capital preservation, emergency funds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PPF (Public Provident Fund)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Government-backed long-term saving scheme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Current interest rate: 7.1% p.a. (100% tax-free)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Tenure: 15 years maturity, 5-year extension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Annual contribution limit: ₹500 to ₹1.5 Lakh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Tax benefits: Completely exempt (EEE status)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Perfect for: Retirement planning, long-term tax savings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 Estate Investment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Physical tangible asset with intrinsic value and utility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Historical CAGR: 8-12% (residential properties)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Income generation: Rental yields of 3-5% p.a.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Leverage benefits: Mortgage financing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Liquidity constraints: Takes 6-12 months to sell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Portfolio allocation: 20-30% recommended for wealth building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Post Office Schemes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🟢 Senior Citizen Saving Scheme: 8.2% p.a. (age 60+)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🟡 Sukanya Samriddhi Account: 8.2% p.a. (girl child)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🔵 National Saving Certificate (NSC): 8% p.a.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🟠 Kisan Vikas Patra: 7.6% p.a. (doubles in 124 months)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🟣 Monthly Income Scheme: 7.4% p.a.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Safe, government-backed, excellent tax benefits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Insurance as Investment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Traditional plans: Fixed maturity benefit + bonuses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ULIP (Unit Linked Insurance Plans): Market-linked returns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Expected returns: 8-12% p.a. (historical average)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Combined benefits: Life coverage + Wealth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Advantages: Protection, loan eligibility, tax deductions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Caution: Avoid as pure investment - high fees &amp; lock-in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Risk vs Return Matrix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🟢 Low Risk (6-8% returns): FDs, PPF, Government Schemes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🟡 Medium Risk (10-12% returns): Mutual Funds, Gold, Bonds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🟠 High Risk (15%+ returns): Direct Stocks, Small Caps, Crypto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Your risk profile depends 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   • Time horizon (longer = higher risk capacity)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   • Financial obligations, goals, and life stage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 Diversification Strategy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Conservative (60+ yrs): 40% FD + 30% Gold + 20% Bonds + 10% MF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Balanced (35-60 yrs): 40% MF + 25% Real Estate + 20% FD + 15% Gold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Aggressive (20-35 yrs): 60% Equity MF + 20% Stocks + 10% Gold + 10% FD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Rebalance: Quarterly or annually based on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SIP Strategy: Invest monthly to reduce timing risk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Review: Monitor quarterly, adjust when markets shift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Modern Investing Trends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📱 Digital apps: Zerodha, Groww, Paytm Money (commission-free)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🤖 Robo-advisors: Automated portfolio management at low cost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💳 Direct investing: Lower fees, higher returns to investors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📊 ESG Investing: Environmental, Social, Governance focus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🪙 Index investing: Low-cost index funds, passive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💡 Fractional shares: Start investing with small amounts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Start early: Compounding is your secret weapon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Diversify: Spread risk across multiple asset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Think long-term: Minimum 10+ years for better returns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Automate: SIP investments build wealth systematically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Stay disciplined: Avoid emotional, panic-driven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Keep learning: Financial literacy is the best investment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6"/>
          </a:solidFill>
          <a:ln>
            <a:solidFill>
              <a:srgbClr val="0F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1371600" cy="0"/>
          </a:xfrm>
          <a:prstGeom prst="line">
            <a:avLst/>
          </a:prstGeom>
          <a:ln w="381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Financial freedom is achievable with smart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Each sector offers unique risk-return profiles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Align strategy with your personal goals and risk tolerance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Time in market beats timing the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Consider professional advice for complex portfolios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2046"/>
                </a:solidFill>
              </a:defRPr>
            </a:pPr>
            <a:r>
              <a:t>✓ Start investing TODAY for a secure, prosperous tomorrow!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D4AF37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For more information: investment@example.com | www.smartinvesting.com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